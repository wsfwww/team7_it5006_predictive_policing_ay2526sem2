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6" r:id="rId3"/>
    <p:sldId id="268" r:id="rId5"/>
    <p:sldId id="269" r:id="rId6"/>
    <p:sldId id="270" r:id="rId7"/>
    <p:sldId id="271" r:id="rId8"/>
    <p:sldId id="272" r:id="rId9"/>
    <p:sldId id="274" r:id="rId10"/>
    <p:sldId id="273" r:id="rId11"/>
    <p:sldId id="275" r:id="rId12"/>
    <p:sldId id="276" r:id="rId13"/>
    <p:sldId id="27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  <a:srgbClr val="003D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 snapToObjects="1" showGuides="1">
      <p:cViewPr varScale="1">
        <p:scale>
          <a:sx n="114" d="100"/>
          <a:sy n="114" d="100"/>
        </p:scale>
        <p:origin x="496" y="168"/>
      </p:cViewPr>
      <p:guideLst>
        <p:guide orient="horz" pos="2100"/>
        <p:guide pos="21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BD08F-CBAC-4545-9921-EF57BD74795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0D9C8-CB09-FD4D-8363-8E3EE3CD8D5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7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2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2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2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73050"/>
            <a:ext cx="22562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273052"/>
            <a:ext cx="38338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435102"/>
            <a:ext cx="22562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2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2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2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2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83000">
              <a:srgbClr val="003D7C"/>
            </a:gs>
            <a:gs pos="100000">
              <a:srgbClr val="003D7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9145" y="1212215"/>
            <a:ext cx="7947025" cy="1102360"/>
          </a:xfrm>
        </p:spPr>
        <p:txBody>
          <a:bodyPr anchor="ctr" anchorCtr="0">
            <a:normAutofit fontScale="90000"/>
          </a:bodyPr>
          <a:lstStyle/>
          <a:p>
            <a:pPr algn="l"/>
            <a:r>
              <a:rPr lang="en-US" altLang="en-US" sz="4050" b="1" dirty="0">
                <a:solidFill>
                  <a:schemeClr val="bg1"/>
                </a:solidFill>
                <a:cs typeface="+mj-lt"/>
              </a:rPr>
              <a:t>Team7 - Predicting Arrest Outcomes for Urban Crime Events</a:t>
            </a:r>
            <a:endParaRPr lang="en-US" altLang="en-US" sz="4050" b="1" dirty="0">
              <a:solidFill>
                <a:schemeClr val="bg1"/>
              </a:solidFill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9145" y="2663825"/>
            <a:ext cx="5143500" cy="2983865"/>
          </a:xfrm>
        </p:spPr>
        <p:txBody>
          <a:bodyPr anchor="ctr" anchorCtr="0">
            <a:noAutofit/>
          </a:bodyPr>
          <a:lstStyle/>
          <a:p>
            <a:pPr algn="l">
              <a:lnSpc>
                <a:spcPct val="130000"/>
              </a:lnSpc>
              <a:buFont typeface="Arial" panose="020B0604020202090204" pitchFamily="34" charset="0"/>
            </a:pP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1. Problem &amp; Business </a:t>
            </a: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Context</a:t>
            </a:r>
            <a:endParaRPr lang="en-US" altLang="en-GB" sz="2400" b="1" dirty="0"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pPr algn="l">
              <a:lnSpc>
                <a:spcPct val="130000"/>
              </a:lnSpc>
              <a:buFont typeface="Arial" panose="020B0604020202090204" pitchFamily="34" charset="0"/>
            </a:pP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2. Data &amp; EDA Highlights</a:t>
            </a:r>
            <a:endParaRPr lang="en-US" altLang="en-GB" sz="2400" b="1" dirty="0"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pPr algn="l">
              <a:lnSpc>
                <a:spcPct val="130000"/>
              </a:lnSpc>
              <a:buFont typeface="Arial" panose="020B0604020202090204" pitchFamily="34" charset="0"/>
            </a:pP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3. Modeling Approach</a:t>
            </a:r>
            <a:endParaRPr lang="en-US" altLang="en-GB" sz="2400" b="1" dirty="0"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pPr algn="l">
              <a:lnSpc>
                <a:spcPct val="130000"/>
              </a:lnSpc>
              <a:buFont typeface="Arial" panose="020B0604020202090204" pitchFamily="34" charset="0"/>
            </a:pP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4. Results &amp; Deployment Demo</a:t>
            </a:r>
            <a:endParaRPr lang="en-US" altLang="en-GB" sz="2400" b="1" dirty="0"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pPr algn="l">
              <a:lnSpc>
                <a:spcPct val="130000"/>
              </a:lnSpc>
              <a:buFont typeface="Arial" panose="020B0604020202090204" pitchFamily="34" charset="0"/>
            </a:pPr>
            <a:r>
              <a:rPr lang="en-US" altLang="en-GB" sz="2400" b="1" dirty="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5. Recommendations &amp; Impact</a:t>
            </a:r>
            <a:endParaRPr lang="en-US" altLang="en-GB" sz="2400" b="1" dirty="0">
              <a:solidFill>
                <a:schemeClr val="bg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544195" y="2992120"/>
            <a:ext cx="76200" cy="2327275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b="1">
              <a:latin typeface="+mj-lt"/>
              <a:cs typeface="+mj-lt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150" y="295275"/>
            <a:ext cx="1517015" cy="6934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1443697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atin typeface="+mj-lt"/>
              <a:cs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2708" y="5996942"/>
            <a:ext cx="5007610" cy="288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lang="en-US" sz="1275" b="1" dirty="0">
                <a:solidFill>
                  <a:schemeClr val="bg1"/>
                </a:solidFill>
                <a:latin typeface="+mj-lt"/>
                <a:cs typeface="+mj-lt"/>
              </a:rPr>
              <a:t>* </a:t>
            </a:r>
            <a:r>
              <a:rPr sz="1275" b="1" dirty="0">
                <a:solidFill>
                  <a:schemeClr val="bg1"/>
                </a:solidFill>
                <a:latin typeface="+mj-lt"/>
                <a:cs typeface="+mj-lt"/>
              </a:rPr>
              <a:t>Chicago Crimes (201</a:t>
            </a:r>
            <a:r>
              <a:rPr lang="en-US" sz="1275" b="1" dirty="0">
                <a:solidFill>
                  <a:schemeClr val="bg1"/>
                </a:solidFill>
                <a:latin typeface="+mj-lt"/>
                <a:cs typeface="+mj-lt"/>
              </a:rPr>
              <a:t>5</a:t>
            </a:r>
            <a:r>
              <a:rPr sz="1275" b="1" dirty="0">
                <a:solidFill>
                  <a:schemeClr val="bg1"/>
                </a:solidFill>
                <a:latin typeface="+mj-lt"/>
                <a:cs typeface="+mj-lt"/>
              </a:rPr>
              <a:t>-202</a:t>
            </a:r>
            <a:r>
              <a:rPr lang="en-US" sz="1275" b="1" dirty="0">
                <a:solidFill>
                  <a:schemeClr val="bg1"/>
                </a:solidFill>
                <a:latin typeface="+mj-lt"/>
                <a:cs typeface="+mj-lt"/>
              </a:rPr>
              <a:t>5</a:t>
            </a:r>
            <a:r>
              <a:rPr sz="1275" b="1" dirty="0">
                <a:solidFill>
                  <a:schemeClr val="bg1"/>
                </a:solidFill>
                <a:latin typeface="+mj-lt"/>
                <a:cs typeface="+mj-lt"/>
              </a:rPr>
              <a:t>) + NIBRS External Generalization</a:t>
            </a:r>
            <a:endParaRPr sz="1275" b="1" dirty="0">
              <a:solidFill>
                <a:schemeClr val="bg1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01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altLang="en-US" sz="3200" b="1" dirty="0"/>
              <a:t>Problem Statement &amp; Business Context</a:t>
            </a:r>
            <a:endParaRPr lang="en-US" altLang="en-US" sz="32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316865" y="1570990"/>
            <a:ext cx="1475740" cy="560705"/>
          </a:xfrm>
          <a:prstGeom prst="rect">
            <a:avLst/>
          </a:prstGeom>
          <a:solidFill>
            <a:srgbClr val="ED7F0D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Go</a:t>
            </a:r>
            <a:r>
              <a:rPr lang="en-US" altLang="zh-CN" sz="2400" b="1">
                <a:solidFill>
                  <a:schemeClr val="bg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al</a:t>
            </a:r>
            <a:endParaRPr lang="en-US" altLang="zh-CN" sz="2400" b="1">
              <a:solidFill>
                <a:schemeClr val="bg1"/>
              </a:solidFill>
              <a:latin typeface="Arial Bold" panose="020B0604020202090204" charset="0"/>
              <a:cs typeface="Arial Bold" panose="020B0604020202090204" charset="0"/>
              <a:sym typeface="+mn-ea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899920" y="1344295"/>
            <a:ext cx="679577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2000">
                <a:solidFill>
                  <a:schemeClr val="tx1"/>
                </a:solidFill>
                <a:latin typeface="+mj-lt"/>
                <a:cs typeface="+mj-lt"/>
              </a:rPr>
              <a:t>Predict whether a </a:t>
            </a:r>
            <a:r>
              <a:rPr sz="20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rPr>
              <a:t>reported crime incident</a:t>
            </a:r>
            <a:r>
              <a:rPr sz="2000">
                <a:solidFill>
                  <a:schemeClr val="tx1"/>
                </a:solidFill>
                <a:latin typeface="+mj-lt"/>
                <a:cs typeface="+mj-lt"/>
              </a:rPr>
              <a:t> is likely to lead to an </a:t>
            </a:r>
            <a:r>
              <a:rPr sz="20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rPr>
              <a:t>arrest</a:t>
            </a:r>
            <a:r>
              <a:rPr sz="2000">
                <a:solidFill>
                  <a:schemeClr val="tx1"/>
                </a:solidFill>
                <a:latin typeface="+mj-lt"/>
                <a:cs typeface="+mj-lt"/>
              </a:rPr>
              <a:t> using only information available at reporting time.</a:t>
            </a:r>
            <a:endParaRPr sz="20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16865" y="2599690"/>
            <a:ext cx="24199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800" b="1">
                <a:solidFill>
                  <a:srgbClr val="EF7C00"/>
                </a:solidFill>
                <a:latin typeface="Avenir Next" panose="020B0803020202020204"/>
              </a:defRPr>
            </a:pPr>
            <a:r>
              <a:rPr sz="2000">
                <a:latin typeface="+mj-lt"/>
                <a:cs typeface="+mj-lt"/>
                <a:sym typeface="+mn-ea"/>
              </a:rPr>
              <a:t>Why this matters</a:t>
            </a:r>
            <a:endParaRPr lang="en-US" sz="2000">
              <a:latin typeface="+mj-lt"/>
              <a:cs typeface="+mj-lt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22910" y="2998470"/>
            <a:ext cx="475551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defRPr sz="18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700">
                <a:solidFill>
                  <a:schemeClr val="tx1"/>
                </a:solidFill>
                <a:latin typeface="+mj-lt"/>
                <a:cs typeface="+mj-lt"/>
              </a:rPr>
              <a:t>Prioritize analyst attention for high-probability cases</a:t>
            </a:r>
            <a:endParaRPr sz="1700">
              <a:solidFill>
                <a:schemeClr val="tx1"/>
              </a:solidFill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defRPr sz="18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700">
                <a:solidFill>
                  <a:schemeClr val="tx1"/>
                </a:solidFill>
                <a:latin typeface="+mj-lt"/>
                <a:cs typeface="+mj-lt"/>
              </a:rPr>
              <a:t>Learn patterns that can transfer across jurisdictions</a:t>
            </a:r>
            <a:endParaRPr sz="1700">
              <a:solidFill>
                <a:schemeClr val="tx1"/>
              </a:solidFill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  <a:defRPr sz="18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700">
                <a:solidFill>
                  <a:schemeClr val="tx1"/>
                </a:solidFill>
                <a:latin typeface="+mj-lt"/>
                <a:cs typeface="+mj-lt"/>
              </a:rPr>
              <a:t>Build a proof-of-concept decision-support workflow</a:t>
            </a:r>
            <a:endParaRPr sz="17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16865" y="4813300"/>
            <a:ext cx="22847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F7C00"/>
                </a:solidFill>
                <a:latin typeface="Avenir Next" panose="020B0803020202020204"/>
              </a:defRPr>
            </a:pPr>
            <a:r>
              <a:rPr sz="2000">
                <a:latin typeface="+mj-lt"/>
                <a:cs typeface="+mj-lt"/>
              </a:rPr>
              <a:t>Business framing</a:t>
            </a:r>
            <a:endParaRPr sz="2000">
              <a:latin typeface="+mj-lt"/>
              <a:cs typeface="+mj-lt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22910" y="5212080"/>
            <a:ext cx="4780915" cy="1240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8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7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This is an analyst support tool, not an autonomous policing system. </a:t>
            </a:r>
            <a:endParaRPr sz="17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8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7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The model provides a triage score to support review, prioritization and monitoring.</a:t>
            </a:r>
            <a:endParaRPr lang="en-US" sz="17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361940" y="2622550"/>
            <a:ext cx="3334385" cy="3830955"/>
            <a:chOff x="8508" y="4095"/>
            <a:chExt cx="5251" cy="6033"/>
          </a:xfrm>
        </p:grpSpPr>
        <p:sp>
          <p:nvSpPr>
            <p:cNvPr id="11" name="Rounded Rectangle 10"/>
            <p:cNvSpPr/>
            <p:nvPr/>
          </p:nvSpPr>
          <p:spPr>
            <a:xfrm>
              <a:off x="8508" y="4095"/>
              <a:ext cx="5251" cy="6033"/>
            </a:xfrm>
            <a:prstGeom prst="roundRect">
              <a:avLst/>
            </a:prstGeom>
            <a:solidFill>
              <a:srgbClr val="003D7C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+mj-lt"/>
              </a:endParaRPr>
            </a:p>
          </p:txBody>
        </p:sp>
        <p:sp>
          <p:nvSpPr>
            <p:cNvPr id="15" name="TextBox 6"/>
            <p:cNvSpPr txBox="1"/>
            <p:nvPr/>
          </p:nvSpPr>
          <p:spPr>
            <a:xfrm>
              <a:off x="8740" y="4459"/>
              <a:ext cx="4786" cy="5233"/>
            </a:xfrm>
            <a:prstGeom prst="rect">
              <a:avLst/>
            </a:prstGeom>
            <a:noFill/>
          </p:spPr>
          <p:txBody>
            <a:bodyPr wrap="square" anchor="ctr" anchorCtr="0">
              <a:noAutofit/>
            </a:bodyPr>
            <a:lstStyle/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8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  <a:sym typeface="+mn-ea"/>
                </a:rPr>
                <a:t>Prediction target</a:t>
              </a:r>
              <a:endParaRPr sz="18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  <a:sym typeface="+mn-ea"/>
                </a:rPr>
                <a:t>Arrest = 1 / 0</a:t>
              </a:r>
              <a:endParaRPr sz="1800"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endParaRPr sz="1800"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8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  <a:sym typeface="+mn-ea"/>
                </a:rPr>
                <a:t>Decision point</a:t>
              </a:r>
              <a:endParaRPr sz="18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  <a:sym typeface="+mn-ea"/>
                </a:rPr>
                <a:t>At incident reporting time</a:t>
              </a:r>
              <a:endParaRPr sz="1800"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endParaRPr sz="1800"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8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  <a:sym typeface="+mn-ea"/>
                </a:rPr>
                <a:t>Core inputs</a:t>
              </a:r>
              <a:endParaRPr sz="18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indent="0" algn="l" fontAlgn="auto">
                <a:lnSpc>
                  <a:spcPct val="120000"/>
                </a:lnSpc>
                <a:defRPr sz="22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lang="en-US" sz="1800">
                  <a:latin typeface="+mj-lt"/>
                  <a:cs typeface="+mj-lt"/>
                  <a:sym typeface="+mn-ea"/>
                </a:rPr>
                <a:t>t</a:t>
              </a:r>
              <a:r>
                <a:rPr sz="1800">
                  <a:latin typeface="+mj-lt"/>
                  <a:cs typeface="+mj-lt"/>
                  <a:sym typeface="+mn-ea"/>
                </a:rPr>
                <a:t>ime, location, offense category,</a:t>
              </a:r>
              <a:r>
                <a:rPr lang="en-US" sz="1800">
                  <a:latin typeface="+mj-lt"/>
                  <a:cs typeface="+mj-lt"/>
                  <a:sym typeface="+mn-ea"/>
                </a:rPr>
                <a:t> </a:t>
              </a:r>
              <a:r>
                <a:rPr sz="1800">
                  <a:latin typeface="+mj-lt"/>
                  <a:cs typeface="+mj-lt"/>
                  <a:sym typeface="+mn-ea"/>
                </a:rPr>
                <a:t>crime-against type</a:t>
              </a:r>
              <a:r>
                <a:rPr lang="en-US" sz="1800">
                  <a:latin typeface="+mj-lt"/>
                  <a:cs typeface="+mj-lt"/>
                  <a:sym typeface="+mn-ea"/>
                </a:rPr>
                <a:t>......</a:t>
              </a:r>
              <a:endParaRPr lang="en-US" sz="18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02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altLang="en-US" sz="3200" b="1" dirty="0"/>
              <a:t>Dataset Overview &amp; Split Strategy</a:t>
            </a:r>
            <a:endParaRPr lang="en-US" altLang="en-US" sz="3200" b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414020" y="1417320"/>
            <a:ext cx="8308340" cy="2695447"/>
            <a:chOff x="360" y="2239"/>
            <a:chExt cx="13084" cy="4451"/>
          </a:xfrm>
        </p:grpSpPr>
        <p:sp>
          <p:nvSpPr>
            <p:cNvPr id="23" name="Rounded Rectangle 22"/>
            <p:cNvSpPr/>
            <p:nvPr/>
          </p:nvSpPr>
          <p:spPr>
            <a:xfrm>
              <a:off x="7147" y="2239"/>
              <a:ext cx="6297" cy="411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2705" dist="35560" dir="60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lt"/>
                <a:cs typeface="+mj-lt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60" y="2239"/>
              <a:ext cx="6297" cy="411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2705" dist="35560" dir="60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lt"/>
                <a:cs typeface="+mj-lt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538" y="2413"/>
              <a:ext cx="4476" cy="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>
                  <a:latin typeface="+mj-lt"/>
                  <a:cs typeface="+mj-lt"/>
                </a:rPr>
                <a:t>Chicago Crimes </a:t>
              </a:r>
              <a:r>
                <a:rPr lang="en-US">
                  <a:latin typeface="+mj-lt"/>
                  <a:cs typeface="+mj-lt"/>
                </a:rPr>
                <a:t>D</a:t>
              </a:r>
              <a:r>
                <a:rPr>
                  <a:latin typeface="+mj-lt"/>
                  <a:cs typeface="+mj-lt"/>
                </a:rPr>
                <a:t>ataset</a:t>
              </a:r>
              <a:endParaRPr>
                <a:latin typeface="+mj-lt"/>
                <a:cs typeface="+mj-lt"/>
              </a:endParaRPr>
            </a:p>
          </p:txBody>
        </p:sp>
        <p:sp>
          <p:nvSpPr>
            <p:cNvPr id="13" name="TextBox 5"/>
            <p:cNvSpPr txBox="1"/>
            <p:nvPr/>
          </p:nvSpPr>
          <p:spPr>
            <a:xfrm>
              <a:off x="538" y="3005"/>
              <a:ext cx="6119" cy="36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b="1">
                  <a:latin typeface="+mj-lt"/>
                  <a:cs typeface="+mj-lt"/>
                </a:rPr>
                <a:t>Source</a:t>
              </a:r>
              <a:r>
                <a:rPr lang="en-US" altLang="en-US">
                  <a:latin typeface="+mj-lt"/>
                  <a:cs typeface="+mj-lt"/>
                </a:rPr>
                <a:t>: </a:t>
              </a:r>
              <a:endParaRPr lang="en-US" altLang="en-US"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>
                  <a:latin typeface="+mj-lt"/>
                  <a:cs typeface="+mj-lt"/>
                </a:rPr>
                <a:t>Chicago Police Department CLEAR system</a:t>
              </a:r>
              <a:endParaRPr lang="en-US" altLang="en-US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b="1">
                  <a:latin typeface="+mj-lt"/>
                  <a:cs typeface="+mj-lt"/>
                </a:rPr>
                <a:t>Coverage used in project materials: </a:t>
              </a:r>
              <a:endParaRPr lang="en-US" altLang="en-US" b="1"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>
                  <a:latin typeface="+mj-lt"/>
                  <a:cs typeface="+mj-lt"/>
                </a:rPr>
                <a:t>Jan 1, 2015 - Dec 31, 2025</a:t>
              </a:r>
              <a:endParaRPr lang="en-US" altLang="en-US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b="1">
                  <a:latin typeface="+mj-lt"/>
                  <a:cs typeface="+mj-lt"/>
                </a:rPr>
                <a:t>After EDA cleaning: </a:t>
              </a:r>
              <a:endParaRPr lang="en-US" altLang="en-US" b="1"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>
                  <a:latin typeface="+mj-lt"/>
                  <a:cs typeface="+mj-lt"/>
                </a:rPr>
                <a:t>2,713,480 rows and 25 columns</a:t>
              </a:r>
              <a:endParaRPr lang="en-US" altLang="en-US">
                <a:latin typeface="+mj-lt"/>
                <a:cs typeface="+mj-lt"/>
              </a:endParaRPr>
            </a:p>
            <a:p>
              <a:pPr algn="l"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endParaRPr lang="en-US" altLang="en-US">
                <a:latin typeface="+mj-lt"/>
                <a:cs typeface="+mj-lt"/>
              </a:endParaRPr>
            </a:p>
          </p:txBody>
        </p:sp>
        <p:sp>
          <p:nvSpPr>
            <p:cNvPr id="17" name="TextBox 7"/>
            <p:cNvSpPr txBox="1"/>
            <p:nvPr/>
          </p:nvSpPr>
          <p:spPr>
            <a:xfrm>
              <a:off x="7396" y="2423"/>
              <a:ext cx="2843" cy="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>
                  <a:latin typeface="+mj-lt"/>
                  <a:cs typeface="+mj-lt"/>
                </a:rPr>
                <a:t>NIBRS </a:t>
              </a:r>
              <a:r>
                <a:rPr lang="en-US">
                  <a:latin typeface="+mj-lt"/>
                  <a:cs typeface="+mj-lt"/>
                </a:rPr>
                <a:t>D</a:t>
              </a:r>
              <a:r>
                <a:rPr>
                  <a:latin typeface="+mj-lt"/>
                  <a:cs typeface="+mj-lt"/>
                </a:rPr>
                <a:t>ataset</a:t>
              </a:r>
              <a:endParaRPr>
                <a:latin typeface="+mj-lt"/>
                <a:cs typeface="+mj-lt"/>
              </a:endParaRPr>
            </a:p>
          </p:txBody>
        </p:sp>
        <p:sp>
          <p:nvSpPr>
            <p:cNvPr id="18" name="TextBox 8"/>
            <p:cNvSpPr txBox="1"/>
            <p:nvPr/>
          </p:nvSpPr>
          <p:spPr>
            <a:xfrm>
              <a:off x="7396" y="3005"/>
              <a:ext cx="6047" cy="3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b="1">
                  <a:latin typeface="+mj-lt"/>
                  <a:cs typeface="+mj-lt"/>
                </a:rPr>
                <a:t>Source: </a:t>
              </a:r>
              <a:endParaRPr b="1"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>
                  <a:latin typeface="+mj-lt"/>
                  <a:cs typeface="+mj-lt"/>
                </a:rPr>
                <a:t>FBI NIBRS incident-level data</a:t>
              </a:r>
              <a:endParaRPr>
                <a:latin typeface="+mj-lt"/>
                <a:cs typeface="+mj-lt"/>
              </a:endParaRPr>
            </a:p>
            <a:p>
              <a:pPr indent="0" algn="l">
                <a:lnSpc>
                  <a:spcPct val="110000"/>
                </a:lnSpc>
                <a:buFont typeface="Arial" panose="020B0604020202090204" pitchFamily="34" charset="0"/>
                <a:buNone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endParaRPr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>
                  <a:latin typeface="+mj-lt"/>
                  <a:cs typeface="+mj-lt"/>
                </a:rPr>
                <a:t>Used as an external generalization benchmark</a:t>
              </a:r>
              <a:endParaRPr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>
                  <a:latin typeface="+mj-lt"/>
                  <a:cs typeface="+mj-lt"/>
                </a:rPr>
                <a:t>Aligned to the same 43 engineered features</a:t>
              </a:r>
              <a:endParaRPr>
                <a:latin typeface="+mj-lt"/>
                <a:cs typeface="+mj-lt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32155" y="4233545"/>
            <a:ext cx="7832090" cy="2320290"/>
            <a:chOff x="1082" y="6739"/>
            <a:chExt cx="12334" cy="3654"/>
          </a:xfrm>
        </p:grpSpPr>
        <p:grpSp>
          <p:nvGrpSpPr>
            <p:cNvPr id="26" name="Group 25"/>
            <p:cNvGrpSpPr/>
            <p:nvPr/>
          </p:nvGrpSpPr>
          <p:grpSpPr>
            <a:xfrm>
              <a:off x="1082" y="7275"/>
              <a:ext cx="4748" cy="2619"/>
              <a:chOff x="830" y="7255"/>
              <a:chExt cx="4748" cy="2619"/>
            </a:xfrm>
          </p:grpSpPr>
          <p:sp>
            <p:nvSpPr>
              <p:cNvPr id="20" name="TextBox 10"/>
              <p:cNvSpPr txBox="1"/>
              <p:nvPr/>
            </p:nvSpPr>
            <p:spPr>
              <a:xfrm>
                <a:off x="830" y="7255"/>
                <a:ext cx="3954" cy="5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2000" b="1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sz="1800">
                    <a:solidFill>
                      <a:schemeClr val="accent6">
                        <a:lumMod val="75000"/>
                      </a:schemeClr>
                    </a:solidFill>
                    <a:latin typeface="+mj-lt"/>
                    <a:cs typeface="+mj-lt"/>
                    <a:sym typeface="+mn-ea"/>
                  </a:rPr>
                  <a:t>Feature </a:t>
                </a:r>
                <a:r>
                  <a:rPr lang="en-US" sz="1800">
                    <a:solidFill>
                      <a:schemeClr val="accent6">
                        <a:lumMod val="75000"/>
                      </a:schemeClr>
                    </a:solidFill>
                    <a:latin typeface="+mj-lt"/>
                    <a:cs typeface="+mj-lt"/>
                    <a:sym typeface="+mn-ea"/>
                  </a:rPr>
                  <a:t>E</a:t>
                </a:r>
                <a:r>
                  <a:rPr sz="1800">
                    <a:solidFill>
                      <a:schemeClr val="accent6">
                        <a:lumMod val="75000"/>
                      </a:schemeClr>
                    </a:solidFill>
                    <a:latin typeface="+mj-lt"/>
                    <a:cs typeface="+mj-lt"/>
                    <a:sym typeface="+mn-ea"/>
                  </a:rPr>
                  <a:t>ngineering</a:t>
                </a:r>
                <a:r>
                  <a:rPr lang="en-US" sz="1800">
                    <a:solidFill>
                      <a:schemeClr val="accent6">
                        <a:lumMod val="75000"/>
                      </a:schemeClr>
                    </a:solidFill>
                    <a:latin typeface="+mj-lt"/>
                    <a:cs typeface="+mj-lt"/>
                    <a:sym typeface="+mn-ea"/>
                  </a:rPr>
                  <a:t>: </a:t>
                </a:r>
                <a:endParaRPr sz="1800" b="1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</a:endParaRPr>
              </a:p>
            </p:txBody>
          </p:sp>
          <p:sp>
            <p:nvSpPr>
              <p:cNvPr id="22" name="TextBox 12"/>
              <p:cNvSpPr txBox="1"/>
              <p:nvPr/>
            </p:nvSpPr>
            <p:spPr>
              <a:xfrm>
                <a:off x="830" y="8010"/>
                <a:ext cx="4748" cy="186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285750" indent="-285750" algn="l">
                  <a:lnSpc>
                    <a:spcPct val="12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>
                    <a:solidFill>
                      <a:schemeClr val="tx1"/>
                    </a:solidFill>
                    <a:latin typeface="+mj-lt"/>
                    <a:cs typeface="+mj-lt"/>
                  </a:rPr>
                  <a:t>Missing value treatment</a:t>
                </a:r>
                <a:endParaRPr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>
                    <a:solidFill>
                      <a:schemeClr val="tx1"/>
                    </a:solidFill>
                    <a:latin typeface="+mj-lt"/>
                    <a:cs typeface="+mj-lt"/>
                  </a:rPr>
                  <a:t>Cyclical time encoding</a:t>
                </a:r>
                <a:endParaRPr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lnSpc>
                    <a:spcPct val="12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>
                    <a:solidFill>
                      <a:schemeClr val="tx1"/>
                    </a:solidFill>
                    <a:latin typeface="+mj-lt"/>
                    <a:cs typeface="+mj-lt"/>
                  </a:rPr>
                  <a:t>Strict one-hot alignment</a:t>
                </a:r>
                <a:endParaRPr>
                  <a:solidFill>
                    <a:schemeClr val="tx1"/>
                  </a:solidFill>
                  <a:latin typeface="+mj-lt"/>
                  <a:cs typeface="+mj-lt"/>
                </a:endParaRP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6280" y="6739"/>
              <a:ext cx="7137" cy="3654"/>
              <a:chOff x="6246" y="6632"/>
              <a:chExt cx="7137" cy="3654"/>
            </a:xfrm>
          </p:grpSpPr>
          <p:sp>
            <p:nvSpPr>
              <p:cNvPr id="21" name="TextBox 11"/>
              <p:cNvSpPr txBox="1"/>
              <p:nvPr/>
            </p:nvSpPr>
            <p:spPr>
              <a:xfrm>
                <a:off x="7439" y="6632"/>
                <a:ext cx="5944" cy="3655"/>
              </a:xfrm>
              <a:prstGeom prst="rect">
                <a:avLst/>
              </a:prstGeom>
              <a:noFill/>
            </p:spPr>
            <p:txBody>
              <a:bodyPr wrap="square" anchor="ctr" anchorCtr="0">
                <a:noAutofit/>
              </a:bodyPr>
              <a:lstStyle/>
              <a:p>
                <a:pPr algn="l">
                  <a:lnSpc>
                    <a:spcPct val="110000"/>
                  </a:lnSpc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lang="en-US" altLang="en-US" sz="1600" b="1">
                    <a:solidFill>
                      <a:schemeClr val="tx1"/>
                    </a:solidFill>
                    <a:latin typeface="+mj-lt"/>
                    <a:cs typeface="+mj-lt"/>
                  </a:rPr>
                  <a:t>Train: </a:t>
                </a:r>
                <a:endParaRPr lang="en-US" altLang="en-US" sz="1600" b="1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lnSpc>
                    <a:spcPct val="11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lang="en-US" altLang="en-US" sz="1600">
                    <a:solidFill>
                      <a:schemeClr val="tx1"/>
                    </a:solidFill>
                    <a:latin typeface="+mj-lt"/>
                    <a:cs typeface="+mj-lt"/>
                  </a:rPr>
                  <a:t>Chicago 2015-2024</a:t>
                </a:r>
                <a:endParaRPr lang="en-US" altLang="en-US" sz="1600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lnSpc>
                    <a:spcPct val="11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lang="en-US" altLang="en-US" sz="1600">
                    <a:solidFill>
                      <a:schemeClr val="tx1"/>
                    </a:solidFill>
                    <a:latin typeface="+mj-lt"/>
                    <a:cs typeface="+mj-lt"/>
                  </a:rPr>
                  <a:t>2,477,280 incidents | 43 features</a:t>
                </a:r>
                <a:endParaRPr lang="en-US" altLang="en-US" sz="1600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algn="l">
                  <a:lnSpc>
                    <a:spcPct val="110000"/>
                  </a:lnSpc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endParaRPr lang="en-US" altLang="en-US" sz="1600" b="1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algn="l">
                  <a:lnSpc>
                    <a:spcPct val="110000"/>
                  </a:lnSpc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lang="en-US" altLang="en-US" sz="1600" b="1">
                    <a:solidFill>
                      <a:schemeClr val="tx1"/>
                    </a:solidFill>
                    <a:latin typeface="+mj-lt"/>
                    <a:cs typeface="+mj-lt"/>
                  </a:rPr>
                  <a:t>Local Holdout: </a:t>
                </a:r>
                <a:endParaRPr lang="en-US" altLang="en-US" sz="1600" b="1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lnSpc>
                    <a:spcPct val="110000"/>
                  </a:lnSpc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lang="en-US" altLang="en-US" sz="1600">
                    <a:solidFill>
                      <a:schemeClr val="tx1"/>
                    </a:solidFill>
                    <a:latin typeface="+mj-lt"/>
                    <a:cs typeface="+mj-lt"/>
                  </a:rPr>
                  <a:t>Chicago 2025 236,200 incidents</a:t>
                </a:r>
                <a:endParaRPr lang="en-US" altLang="en-US" sz="1600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indent="0" algn="l">
                  <a:lnSpc>
                    <a:spcPct val="110000"/>
                  </a:lnSpc>
                  <a:buFont typeface="Arial" panose="020B0604020202090204" pitchFamily="34" charset="0"/>
                  <a:buNone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endParaRPr lang="en-US" altLang="en-US" sz="1600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algn="l"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sz="1600" b="1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External </a:t>
                </a:r>
                <a:r>
                  <a:rPr lang="en-US" sz="1600" b="1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H</a:t>
                </a:r>
                <a:r>
                  <a:rPr sz="1600" b="1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oldout: </a:t>
                </a:r>
                <a:endParaRPr sz="1600" b="1">
                  <a:solidFill>
                    <a:schemeClr val="tx1"/>
                  </a:solidFill>
                  <a:latin typeface="+mj-lt"/>
                  <a:cs typeface="+mj-lt"/>
                </a:endParaRPr>
              </a:p>
              <a:p>
                <a:pPr marL="285750" indent="-285750" algn="l">
                  <a:buFont typeface="Arial" panose="020B0604020202090204" pitchFamily="34" charset="0"/>
                  <a:buChar char="•"/>
                  <a:defRPr sz="1800" b="0">
                    <a:solidFill>
                      <a:srgbClr val="FFFFFF"/>
                    </a:solidFill>
                    <a:latin typeface="Avenir Next" panose="020B0803020202020204"/>
                  </a:defRPr>
                </a:pPr>
                <a:r>
                  <a:rPr sz="1600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NIBRS 2024</a:t>
                </a:r>
                <a:r>
                  <a:rPr lang="en-US" sz="1600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 </a:t>
                </a:r>
                <a:r>
                  <a:rPr sz="1600">
                    <a:solidFill>
                      <a:schemeClr val="tx1"/>
                    </a:solidFill>
                    <a:latin typeface="+mj-lt"/>
                    <a:cs typeface="+mj-lt"/>
                    <a:sym typeface="+mn-ea"/>
                  </a:rPr>
                  <a:t>1,161,668 incidents</a:t>
                </a:r>
                <a:endParaRPr lang="en-US" altLang="en-US" sz="1600">
                  <a:solidFill>
                    <a:schemeClr val="tx1"/>
                  </a:solidFill>
                  <a:latin typeface="+mj-lt"/>
                  <a:cs typeface="+mj-lt"/>
                  <a:sym typeface="+mn-ea"/>
                </a:endParaRPr>
              </a:p>
            </p:txBody>
          </p:sp>
          <p:sp>
            <p:nvSpPr>
              <p:cNvPr id="28" name="Left Brace 27"/>
              <p:cNvSpPr/>
              <p:nvPr/>
            </p:nvSpPr>
            <p:spPr>
              <a:xfrm>
                <a:off x="6246" y="6632"/>
                <a:ext cx="600" cy="3654"/>
              </a:xfrm>
              <a:prstGeom prst="leftBrace">
                <a:avLst>
                  <a:gd name="adj1" fmla="val 68833"/>
                  <a:gd name="adj2" fmla="val 50000"/>
                </a:avLst>
              </a:prstGeom>
              <a:ln w="31750" cap="flat" cmpd="sng">
                <a:solidFill>
                  <a:schemeClr val="accent6">
                    <a:lumMod val="75000"/>
                  </a:schemeClr>
                </a:solidFill>
                <a:prstDash val="solid"/>
                <a:headEnd type="none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02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altLang="en-US" sz="3200" b="1" dirty="0"/>
              <a:t>EDA Highlight 1: Temporal Crime Patterns</a:t>
            </a:r>
            <a:endParaRPr lang="en-US" altLang="en-US" sz="3200" b="1" dirty="0"/>
          </a:p>
        </p:txBody>
      </p:sp>
      <p:pic>
        <p:nvPicPr>
          <p:cNvPr id="412668005" name="Picture 1" descr="A blue and red grid with number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0735" y="1842770"/>
            <a:ext cx="5255260" cy="3149600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 Box 2"/>
          <p:cNvSpPr txBox="1"/>
          <p:nvPr/>
        </p:nvSpPr>
        <p:spPr>
          <a:xfrm>
            <a:off x="367665" y="5259070"/>
            <a:ext cx="8354695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0000"/>
              </a:lnSpc>
              <a:spcAft>
                <a:spcPts val="900"/>
              </a:spcAft>
              <a:buFont typeface="Arial" panose="020B0604020202090204" pitchFamily="34" charset="0"/>
              <a:buNone/>
            </a:pPr>
            <a:r>
              <a:rPr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Model </a:t>
            </a:r>
            <a:r>
              <a:rPr lang="en-US"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I</a:t>
            </a:r>
            <a:r>
              <a:rPr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mplication:</a:t>
            </a:r>
            <a:endParaRPr sz="2000" b="1">
              <a:solidFill>
                <a:srgbClr val="003D7C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To capture these non-linear cyclic variations, we performed 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s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ine-cosine cyclic encoding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 on the time features (hours, months). 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67665" y="1599565"/>
            <a:ext cx="2837815" cy="3281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03D7C"/>
                </a:solidFill>
                <a:latin typeface="Avenir Next" panose="020B0803020202020204"/>
              </a:defRPr>
            </a:pPr>
            <a:r>
              <a:rPr sz="2000">
                <a:latin typeface="+mj-lt"/>
                <a:cs typeface="+mj-lt"/>
                <a:sym typeface="+mn-ea"/>
              </a:rPr>
              <a:t>What </a:t>
            </a:r>
            <a:r>
              <a:rPr lang="en-US" sz="2000">
                <a:latin typeface="+mj-lt"/>
                <a:cs typeface="+mj-lt"/>
                <a:sym typeface="+mn-ea"/>
              </a:rPr>
              <a:t>W</a:t>
            </a:r>
            <a:r>
              <a:rPr sz="2000">
                <a:latin typeface="+mj-lt"/>
                <a:cs typeface="+mj-lt"/>
                <a:sym typeface="+mn-ea"/>
              </a:rPr>
              <a:t>e </a:t>
            </a:r>
            <a:r>
              <a:rPr lang="en-US" sz="2000">
                <a:latin typeface="+mj-lt"/>
                <a:cs typeface="+mj-lt"/>
                <a:sym typeface="+mn-ea"/>
              </a:rPr>
              <a:t>O</a:t>
            </a:r>
            <a:r>
              <a:rPr sz="2000">
                <a:latin typeface="+mj-lt"/>
                <a:cs typeface="+mj-lt"/>
                <a:sym typeface="+mn-ea"/>
              </a:rPr>
              <a:t>bserved</a:t>
            </a:r>
            <a:r>
              <a:rPr lang="en-US" sz="2000">
                <a:latin typeface="+mj-lt"/>
                <a:cs typeface="+mj-lt"/>
                <a:sym typeface="+mn-ea"/>
              </a:rPr>
              <a:t>:</a:t>
            </a:r>
            <a:endParaRPr sz="2000">
              <a:latin typeface="+mj-lt"/>
              <a:cs typeface="+mj-lt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>
                <a:latin typeface="+mj-lt"/>
                <a:cs typeface="+mj-lt"/>
                <a:sym typeface="+mn-ea"/>
              </a:rPr>
              <a:t>EDA revealed clear 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daily and seasonal</a:t>
            </a:r>
            <a:r>
              <a:rPr lang="en-US" altLang="en-US" sz="1600">
                <a:latin typeface="+mj-lt"/>
                <a:cs typeface="+mj-lt"/>
                <a:sym typeface="+mn-ea"/>
              </a:rPr>
              <a:t> timelines in the data</a:t>
            </a:r>
            <a:endParaRPr lang="en-US" altLang="en-US" sz="1600">
              <a:latin typeface="+mj-lt"/>
              <a:cs typeface="+mj-lt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Fraudulent crimes</a:t>
            </a:r>
            <a:r>
              <a:rPr lang="en-US" altLang="en-US" sz="1600">
                <a:latin typeface="+mj-lt"/>
                <a:cs typeface="+mj-lt"/>
                <a:sym typeface="+mn-ea"/>
              </a:rPr>
              <a:t> following a 9-to-5 schedule during 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"business hours"</a:t>
            </a:r>
            <a:endParaRPr lang="en-US" altLang="en-US" sz="1600">
              <a:latin typeface="+mj-lt"/>
              <a:cs typeface="+mj-lt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Violent crimes</a:t>
            </a:r>
            <a:r>
              <a:rPr lang="en-US" altLang="en-US" sz="1600">
                <a:latin typeface="+mj-lt"/>
                <a:cs typeface="+mj-lt"/>
                <a:sym typeface="+mn-ea"/>
              </a:rPr>
              <a:t> surging 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between 8 PM and 2 AM during "night time"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02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EDA Highlight 2: Spatial Hotspots &amp; Crime Context</a:t>
            </a:r>
            <a:endParaRPr lang="en-US" altLang="en-US" sz="29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367665" y="5274945"/>
            <a:ext cx="8354695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0000"/>
              </a:lnSpc>
              <a:spcAft>
                <a:spcPts val="900"/>
              </a:spcAft>
              <a:buFont typeface="Arial" panose="020B0604020202090204" pitchFamily="34" charset="0"/>
              <a:buNone/>
            </a:pPr>
            <a:r>
              <a:rPr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Model </a:t>
            </a:r>
            <a:r>
              <a:rPr lang="en-US"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I</a:t>
            </a:r>
            <a:r>
              <a:rPr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mplication:</a:t>
            </a:r>
            <a:endParaRPr sz="2000" b="1">
              <a:solidFill>
                <a:srgbClr val="003D7C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Based on this finding, we focused on 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one-hot encoding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 of standardized location types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67665" y="1565275"/>
            <a:ext cx="3007360" cy="3331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20000"/>
              </a:lnSpc>
              <a:spcAft>
                <a:spcPts val="900"/>
              </a:spcAft>
              <a:defRPr sz="1800" b="1">
                <a:solidFill>
                  <a:srgbClr val="003D7C"/>
                </a:solidFill>
                <a:latin typeface="Avenir Next" panose="020B0803020202020204"/>
              </a:defRPr>
            </a:pPr>
            <a:r>
              <a:rPr sz="2000">
                <a:latin typeface="+mj-lt"/>
                <a:cs typeface="+mj-lt"/>
                <a:sym typeface="+mn-ea"/>
              </a:rPr>
              <a:t>What </a:t>
            </a:r>
            <a:r>
              <a:rPr lang="en-US" sz="2000">
                <a:latin typeface="+mj-lt"/>
                <a:cs typeface="+mj-lt"/>
                <a:sym typeface="+mn-ea"/>
              </a:rPr>
              <a:t>W</a:t>
            </a:r>
            <a:r>
              <a:rPr sz="2000">
                <a:latin typeface="+mj-lt"/>
                <a:cs typeface="+mj-lt"/>
                <a:sym typeface="+mn-ea"/>
              </a:rPr>
              <a:t>e </a:t>
            </a:r>
            <a:r>
              <a:rPr lang="en-US" sz="2000">
                <a:latin typeface="+mj-lt"/>
                <a:cs typeface="+mj-lt"/>
                <a:sym typeface="+mn-ea"/>
              </a:rPr>
              <a:t>O</a:t>
            </a:r>
            <a:r>
              <a:rPr sz="2000">
                <a:latin typeface="+mj-lt"/>
                <a:cs typeface="+mj-lt"/>
                <a:sym typeface="+mn-ea"/>
              </a:rPr>
              <a:t>bserved</a:t>
            </a:r>
            <a:r>
              <a:rPr lang="en-US" sz="2000">
                <a:latin typeface="+mj-lt"/>
                <a:cs typeface="+mj-lt"/>
                <a:sym typeface="+mn-ea"/>
              </a:rPr>
              <a:t>:</a:t>
            </a:r>
            <a:endParaRPr sz="2000">
              <a:latin typeface="+mj-lt"/>
              <a:cs typeface="+mj-lt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High concentration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 of crime in specific neighborhoods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Commercial theft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 is almost entirely concentrated in 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street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Violent crimes </a:t>
            </a: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(battery/assault) primarily occur in private residences such as apartments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pic>
        <p:nvPicPr>
          <p:cNvPr id="4" name="Picture 3" descr="0c120024ea2f8182c7d94489f13032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265" y="1565275"/>
            <a:ext cx="4948555" cy="37833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03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Model Development Methodology</a:t>
            </a:r>
            <a:endParaRPr lang="en-US" altLang="en-US" sz="2900" b="1" dirty="0"/>
          </a:p>
        </p:txBody>
      </p:sp>
      <p:sp>
        <p:nvSpPr>
          <p:cNvPr id="3" name="Text Box 2"/>
          <p:cNvSpPr txBox="1"/>
          <p:nvPr/>
        </p:nvSpPr>
        <p:spPr>
          <a:xfrm>
            <a:off x="332740" y="4764405"/>
            <a:ext cx="8354695" cy="1096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10000"/>
              </a:lnSpc>
              <a:spcAft>
                <a:spcPts val="400"/>
              </a:spcAft>
              <a:buFont typeface="Arial" panose="020B0604020202090204" pitchFamily="34" charset="0"/>
              <a:buNone/>
            </a:pPr>
            <a:r>
              <a:rPr lang="en-US" altLang="en-US"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Evaluation Metrics: </a:t>
            </a:r>
            <a:endParaRPr lang="en-US" altLang="en-US" sz="2000" b="1">
              <a:solidFill>
                <a:srgbClr val="003D7C"/>
              </a:solidFill>
              <a:latin typeface="+mj-lt"/>
              <a:cs typeface="+mj-lt"/>
              <a:sym typeface="+mn-ea"/>
            </a:endParaRPr>
          </a:p>
          <a:p>
            <a:pPr marL="285750" indent="-285750" fontAlgn="auto">
              <a:lnSpc>
                <a:spcPct val="110000"/>
              </a:lnSpc>
              <a:spcAft>
                <a:spcPts val="400"/>
              </a:spcAft>
              <a:buFont typeface="Arial" panose="020B060402020209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Accuracy, Precision, Recall, F1-score, AUC-ROC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algn="l" fontAlgn="auto">
              <a:lnSpc>
                <a:spcPct val="110000"/>
              </a:lnSpc>
              <a:spcAft>
                <a:spcPts val="400"/>
              </a:spcAft>
              <a:buClrTx/>
              <a:buSzTx/>
              <a:buFont typeface="Arial" panose="020B0604020202090204" pitchFamily="34" charset="0"/>
            </a:pPr>
            <a:r>
              <a:rPr lang="en-US" altLang="en-US" sz="2000" b="1">
                <a:solidFill>
                  <a:srgbClr val="003D7C"/>
                </a:solidFill>
                <a:latin typeface="+mj-lt"/>
                <a:cs typeface="+mj-lt"/>
                <a:sym typeface="+mn-ea"/>
              </a:rPr>
              <a:t>Validation Design: </a:t>
            </a:r>
            <a:endParaRPr lang="en-US" altLang="en-US" sz="2000" b="1">
              <a:solidFill>
                <a:srgbClr val="003D7C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Out-of-time test on Chicago 2025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Cross-domain test on NIBRS 2024</a:t>
            </a: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marL="285750" indent="-285750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  <a:p>
            <a:pPr indent="0">
              <a:lnSpc>
                <a:spcPct val="110000"/>
              </a:lnSpc>
              <a:buFont typeface="Arial" panose="020B0604020202090204" pitchFamily="34" charset="0"/>
              <a:buNone/>
            </a:pPr>
            <a:endParaRPr 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grpSp>
        <p:nvGrpSpPr>
          <p:cNvPr id="10" name="Group 9"/>
          <p:cNvGrpSpPr/>
          <p:nvPr/>
        </p:nvGrpSpPr>
        <p:grpSpPr>
          <a:xfrm rot="0">
            <a:off x="195580" y="1394460"/>
            <a:ext cx="3699510" cy="1477010"/>
            <a:chOff x="594" y="2538"/>
            <a:chExt cx="5826" cy="2326"/>
          </a:xfrm>
        </p:grpSpPr>
        <p:sp>
          <p:nvSpPr>
            <p:cNvPr id="4" name="Rounded Rectangle 3"/>
            <p:cNvSpPr/>
            <p:nvPr/>
          </p:nvSpPr>
          <p:spPr>
            <a:xfrm>
              <a:off x="594" y="2538"/>
              <a:ext cx="5826" cy="23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+mj-lt"/>
              </a:endParaRPr>
            </a:p>
          </p:txBody>
        </p:sp>
        <p:sp>
          <p:nvSpPr>
            <p:cNvPr id="6" name="TextBox 4"/>
            <p:cNvSpPr txBox="1"/>
            <p:nvPr/>
          </p:nvSpPr>
          <p:spPr>
            <a:xfrm>
              <a:off x="810" y="2649"/>
              <a:ext cx="3700" cy="5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7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</a:rPr>
                <a:t>Logistic Regression</a:t>
              </a:r>
              <a:endParaRPr sz="1800">
                <a:latin typeface="+mj-lt"/>
                <a:cs typeface="+mj-lt"/>
              </a:endParaRPr>
            </a:p>
          </p:txBody>
        </p:sp>
        <p:sp>
          <p:nvSpPr>
            <p:cNvPr id="7" name="TextBox 5"/>
            <p:cNvSpPr txBox="1"/>
            <p:nvPr/>
          </p:nvSpPr>
          <p:spPr>
            <a:xfrm>
              <a:off x="810" y="3229"/>
              <a:ext cx="4704" cy="15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sz="1800">
                  <a:solidFill>
                    <a:schemeClr val="tx1"/>
                  </a:solidFill>
                  <a:latin typeface="+mj-lt"/>
                  <a:cs typeface="+mj-lt"/>
                </a:rPr>
                <a:t>I</a:t>
              </a:r>
              <a:r>
                <a:rPr sz="1800">
                  <a:solidFill>
                    <a:schemeClr val="tx1"/>
                  </a:solidFill>
                  <a:latin typeface="+mj-lt"/>
                  <a:cs typeface="+mj-lt"/>
                </a:rPr>
                <a:t>nterpretable baseline</a:t>
              </a:r>
              <a:endParaRPr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800">
                  <a:solidFill>
                    <a:schemeClr val="tx1"/>
                  </a:solidFill>
                  <a:latin typeface="+mj-lt"/>
                  <a:cs typeface="+mj-lt"/>
                </a:rPr>
                <a:t>L2 regularization</a:t>
              </a:r>
              <a:endParaRPr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800">
                  <a:solidFill>
                    <a:schemeClr val="tx1"/>
                  </a:solidFill>
                  <a:latin typeface="+mj-lt"/>
                  <a:cs typeface="+mj-lt"/>
                </a:rPr>
                <a:t>class_weight = balanced</a:t>
              </a:r>
              <a:endParaRPr sz="180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 rot="0">
            <a:off x="4019550" y="1399032"/>
            <a:ext cx="4895850" cy="1477010"/>
            <a:chOff x="594" y="2538"/>
            <a:chExt cx="7710" cy="2326"/>
          </a:xfrm>
        </p:grpSpPr>
        <p:sp>
          <p:nvSpPr>
            <p:cNvPr id="13" name="Rounded Rectangle 12"/>
            <p:cNvSpPr/>
            <p:nvPr/>
          </p:nvSpPr>
          <p:spPr>
            <a:xfrm>
              <a:off x="594" y="2538"/>
              <a:ext cx="7710" cy="23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+mj-lt"/>
              </a:endParaRPr>
            </a:p>
          </p:txBody>
        </p:sp>
        <p:sp>
          <p:nvSpPr>
            <p:cNvPr id="14" name="TextBox 4"/>
            <p:cNvSpPr txBox="1"/>
            <p:nvPr/>
          </p:nvSpPr>
          <p:spPr>
            <a:xfrm>
              <a:off x="810" y="2649"/>
              <a:ext cx="1068" cy="5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7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  <a:sym typeface="+mn-ea"/>
                </a:rPr>
                <a:t>MLP</a:t>
              </a:r>
              <a:endParaRPr sz="1800">
                <a:latin typeface="+mj-lt"/>
                <a:cs typeface="+mj-lt"/>
              </a:endParaRPr>
            </a:p>
          </p:txBody>
        </p:sp>
        <p:sp>
          <p:nvSpPr>
            <p:cNvPr id="15" name="TextBox 5"/>
            <p:cNvSpPr txBox="1"/>
            <p:nvPr/>
          </p:nvSpPr>
          <p:spPr>
            <a:xfrm>
              <a:off x="810" y="3229"/>
              <a:ext cx="7494" cy="15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Weighted loss for class imbalance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Captures higher-order feature interactions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5 epochs in notebook experiment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 rot="0">
            <a:off x="4019550" y="3044952"/>
            <a:ext cx="4091940" cy="1477010"/>
            <a:chOff x="594" y="2538"/>
            <a:chExt cx="6444" cy="2326"/>
          </a:xfrm>
        </p:grpSpPr>
        <p:sp>
          <p:nvSpPr>
            <p:cNvPr id="18" name="Rounded Rectangle 17"/>
            <p:cNvSpPr/>
            <p:nvPr/>
          </p:nvSpPr>
          <p:spPr>
            <a:xfrm>
              <a:off x="594" y="2538"/>
              <a:ext cx="6444" cy="23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+mj-lt"/>
              </a:endParaRPr>
            </a:p>
          </p:txBody>
        </p:sp>
        <p:sp>
          <p:nvSpPr>
            <p:cNvPr id="19" name="TextBox 4"/>
            <p:cNvSpPr txBox="1"/>
            <p:nvPr/>
          </p:nvSpPr>
          <p:spPr>
            <a:xfrm>
              <a:off x="810" y="2649"/>
              <a:ext cx="2007" cy="5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7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  <a:sym typeface="+mn-ea"/>
                </a:rPr>
                <a:t>LightGBM</a:t>
              </a:r>
              <a:endParaRPr sz="1800">
                <a:latin typeface="+mj-lt"/>
                <a:cs typeface="+mj-lt"/>
              </a:endParaRPr>
            </a:p>
          </p:txBody>
        </p:sp>
        <p:sp>
          <p:nvSpPr>
            <p:cNvPr id="20" name="TextBox 5"/>
            <p:cNvSpPr txBox="1"/>
            <p:nvPr/>
          </p:nvSpPr>
          <p:spPr>
            <a:xfrm>
              <a:off x="810" y="3229"/>
              <a:ext cx="6009" cy="15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Gradient boosting ensemble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Efficient nonlinear learning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Strong city-specific performance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 rot="0">
            <a:off x="195580" y="3044190"/>
            <a:ext cx="3699510" cy="1477010"/>
            <a:chOff x="594" y="2538"/>
            <a:chExt cx="5826" cy="2326"/>
          </a:xfrm>
        </p:grpSpPr>
        <p:sp>
          <p:nvSpPr>
            <p:cNvPr id="22" name="Rounded Rectangle 21"/>
            <p:cNvSpPr/>
            <p:nvPr/>
          </p:nvSpPr>
          <p:spPr>
            <a:xfrm>
              <a:off x="594" y="2538"/>
              <a:ext cx="5826" cy="23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  <a:cs typeface="+mj-lt"/>
              </a:endParaRPr>
            </a:p>
          </p:txBody>
        </p:sp>
        <p:sp>
          <p:nvSpPr>
            <p:cNvPr id="23" name="TextBox 4"/>
            <p:cNvSpPr txBox="1"/>
            <p:nvPr/>
          </p:nvSpPr>
          <p:spPr>
            <a:xfrm>
              <a:off x="810" y="2649"/>
              <a:ext cx="2934" cy="5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7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 sz="1800">
                  <a:latin typeface="+mj-lt"/>
                  <a:cs typeface="+mj-lt"/>
                  <a:sym typeface="+mn-ea"/>
                </a:rPr>
                <a:t>Random Forest</a:t>
              </a:r>
              <a:endParaRPr sz="1800">
                <a:latin typeface="+mj-lt"/>
                <a:cs typeface="+mj-lt"/>
              </a:endParaRPr>
            </a:p>
          </p:txBody>
        </p:sp>
        <p:sp>
          <p:nvSpPr>
            <p:cNvPr id="24" name="TextBox 5"/>
            <p:cNvSpPr txBox="1"/>
            <p:nvPr/>
          </p:nvSpPr>
          <p:spPr>
            <a:xfrm>
              <a:off x="810" y="3229"/>
              <a:ext cx="5004" cy="15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Bagging-based ensemble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Strong recall and AUC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marL="285750" indent="-285750" algn="l">
                <a:lnSpc>
                  <a:spcPct val="110000"/>
                </a:lnSpc>
                <a:buFont typeface="Arial" panose="020B0604020202090204" pitchFamily="34" charset="0"/>
                <a:buChar char="•"/>
                <a:defRPr sz="15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lang="en-US" altLang="en-US" sz="1800">
                  <a:solidFill>
                    <a:schemeClr val="tx1"/>
                  </a:solidFill>
                  <a:latin typeface="+mj-lt"/>
                  <a:cs typeface="+mj-lt"/>
                </a:rPr>
                <a:t>Robust under domain shift</a:t>
              </a:r>
              <a:endParaRPr lang="en-US" altLang="en-US" sz="1800">
                <a:solidFill>
                  <a:schemeClr val="tx1"/>
                </a:solidFill>
                <a:latin typeface="+mj-lt"/>
                <a:cs typeface="+mj-lt"/>
              </a:endParaRP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5334635" y="4807585"/>
            <a:ext cx="3580765" cy="1914525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ct val="110000"/>
              </a:lnSpc>
              <a:spcAft>
                <a:spcPts val="900"/>
              </a:spcAft>
              <a:defRPr sz="17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800" b="1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Why </a:t>
            </a:r>
            <a:r>
              <a:rPr lang="en-US" sz="1800" b="1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M</a:t>
            </a:r>
            <a:r>
              <a:rPr sz="1800" b="1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ultiple </a:t>
            </a:r>
            <a:r>
              <a:rPr lang="en-US" sz="1800" b="1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M</a:t>
            </a:r>
            <a:r>
              <a:rPr sz="1800" b="1">
                <a:solidFill>
                  <a:schemeClr val="accent6"/>
                </a:solidFill>
                <a:latin typeface="+mj-lt"/>
                <a:cs typeface="+mj-lt"/>
                <a:sym typeface="+mn-ea"/>
              </a:rPr>
              <a:t>odels:</a:t>
            </a:r>
            <a:endParaRPr sz="1800" b="1">
              <a:solidFill>
                <a:schemeClr val="accent6"/>
              </a:solidFill>
              <a:latin typeface="+mj-lt"/>
              <a:cs typeface="+mj-lt"/>
              <a:sym typeface="+mn-ea"/>
            </a:endParaRPr>
          </a:p>
          <a:p>
            <a:pPr algn="l">
              <a:lnSpc>
                <a:spcPct val="110000"/>
              </a:lnSpc>
              <a:defRPr sz="17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lang="en-US" sz="1400" b="1">
                <a:solidFill>
                  <a:schemeClr val="bg1"/>
                </a:solidFill>
                <a:latin typeface="+mj-lt"/>
                <a:cs typeface="+mj-lt"/>
                <a:sym typeface="+mn-ea"/>
              </a:rPr>
              <a:t>T</a:t>
            </a:r>
            <a:r>
              <a:rPr sz="1400" b="1">
                <a:solidFill>
                  <a:schemeClr val="bg1"/>
                </a:solidFill>
                <a:latin typeface="+mj-lt"/>
                <a:cs typeface="+mj-lt"/>
                <a:sym typeface="+mn-ea"/>
              </a:rPr>
              <a:t>he task mixes sparse categorical features, cyclical time features and external transfer risk, so we compare interpretability, local fit and robustness together.</a:t>
            </a:r>
            <a:endParaRPr sz="1400" b="1">
              <a:solidFill>
                <a:schemeClr val="bg1"/>
              </a:solidFill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ounded Rectangle 29"/>
          <p:cNvSpPr/>
          <p:nvPr/>
        </p:nvSpPr>
        <p:spPr>
          <a:xfrm>
            <a:off x="377190" y="1337310"/>
            <a:ext cx="4011930" cy="143383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  <a:cs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663440" y="1337310"/>
            <a:ext cx="4011930" cy="143383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  <a:cs typeface="+mj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04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Results, Robustness &amp; Key Findings</a:t>
            </a:r>
            <a:endParaRPr lang="en-US" altLang="en-US" sz="2900" b="1" dirty="0"/>
          </a:p>
        </p:txBody>
      </p:sp>
      <p:sp>
        <p:nvSpPr>
          <p:cNvPr id="8" name="TextBox 4"/>
          <p:cNvSpPr txBox="1"/>
          <p:nvPr/>
        </p:nvSpPr>
        <p:spPr>
          <a:xfrm>
            <a:off x="502920" y="1394460"/>
            <a:ext cx="32200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3D7C"/>
                </a:solidFill>
                <a:latin typeface="Avenir Next" panose="020B0803020202020204"/>
              </a:defRPr>
            </a:pPr>
            <a:r>
              <a:rPr sz="1600">
                <a:latin typeface="+mj-lt"/>
                <a:cs typeface="+mj-lt"/>
              </a:rPr>
              <a:t>Chicago 2025 temporal holdout</a:t>
            </a:r>
            <a:endParaRPr sz="1600">
              <a:latin typeface="+mj-lt"/>
              <a:cs typeface="+mj-lt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548644" y="1762509"/>
            <a:ext cx="3427095" cy="852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F1: MLP = 0.520</a:t>
            </a:r>
            <a:endParaRPr sz="1500"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AUC: Random Forest = 0.837</a:t>
            </a:r>
            <a:endParaRPr sz="1500"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Accuracy: LightGBM = 0.826</a:t>
            </a:r>
            <a:endParaRPr sz="1500">
              <a:latin typeface="+mj-lt"/>
              <a:cs typeface="+mj-lt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4789171" y="1394460"/>
            <a:ext cx="29591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3D7C"/>
                </a:solidFill>
                <a:latin typeface="Avenir Next" panose="020B0803020202020204"/>
              </a:defRPr>
            </a:pPr>
            <a:r>
              <a:rPr sz="1600">
                <a:latin typeface="+mj-lt"/>
                <a:cs typeface="+mj-lt"/>
              </a:rPr>
              <a:t>NIBRS 2024 external holdout</a:t>
            </a:r>
            <a:endParaRPr sz="1600">
              <a:latin typeface="+mj-lt"/>
              <a:cs typeface="+mj-lt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4834891" y="1762509"/>
            <a:ext cx="3427095" cy="8528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F1: Random Forest = 0.593</a:t>
            </a:r>
            <a:endParaRPr sz="1500"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AUC: Random Forest = 0.810</a:t>
            </a:r>
            <a:endParaRPr sz="1500">
              <a:latin typeface="+mj-lt"/>
              <a:cs typeface="+mj-lt"/>
            </a:endParaRPr>
          </a:p>
          <a:p>
            <a:pPr marL="285750" indent="-285750" algn="l">
              <a:lnSpc>
                <a:spcPct val="110000"/>
              </a:lnSpc>
              <a:buFont typeface="Arial" panose="020B0604020202090204" pitchFamily="34" charset="0"/>
              <a:buChar char="•"/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sz="1500">
                <a:latin typeface="+mj-lt"/>
                <a:cs typeface="+mj-lt"/>
              </a:rPr>
              <a:t>Best Precision: LR = 0.688</a:t>
            </a:r>
            <a:endParaRPr sz="1500">
              <a:latin typeface="+mj-lt"/>
              <a:cs typeface="+mj-lt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77190" y="2931795"/>
          <a:ext cx="4158642" cy="218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0882"/>
                <a:gridCol w="607695"/>
                <a:gridCol w="700763"/>
                <a:gridCol w="654229"/>
                <a:gridCol w="876461"/>
              </a:tblGrid>
              <a:tr h="3225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Model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Precision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Recall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F1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AUC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Logistic Regression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0.413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0.585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0.484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0.796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MLP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0.464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0.591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0.520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0.832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Random Forest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0.351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0.743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0.477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0.837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LightGBM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0.465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0.581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0.517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0.811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63440" y="2933065"/>
          <a:ext cx="4029075" cy="1956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758"/>
                <a:gridCol w="635000"/>
                <a:gridCol w="680511"/>
                <a:gridCol w="657756"/>
                <a:gridCol w="857050"/>
              </a:tblGrid>
              <a:tr h="3219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Model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Precision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Recall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F1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AUC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Logistic Regression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0.688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0.439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0.536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0.762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MLP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0.622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0.480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0.541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0.794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Random Forest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0.557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0.633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0.593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0.810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sz="1400">
                          <a:latin typeface="+mj-lt"/>
                          <a:cs typeface="+mj-lt"/>
                        </a:rPr>
                        <a:t>LightGBM</a:t>
                      </a:r>
                      <a:endParaRPr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0.630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0.450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0.525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F3A"/>
                          </a:solidFill>
                          <a:latin typeface="Avenir Next" panose="020B0803020202020204"/>
                        </a:defRPr>
                      </a:pPr>
                      <a:r>
                        <a:rPr lang="en-US" sz="1400">
                          <a:latin typeface="+mj-lt"/>
                          <a:cs typeface="+mj-lt"/>
                        </a:rPr>
                        <a:t>0.765</a:t>
                      </a:r>
                      <a:endParaRPr lang="en-US" sz="1400">
                        <a:latin typeface="+mj-lt"/>
                        <a:cs typeface="+mj-lt"/>
                      </a:endParaRPr>
                    </a:p>
                  </a:txBody>
                  <a:tcPr marL="68580" marR="68580" marT="34290" marB="3429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377190" y="5203825"/>
            <a:ext cx="8315325" cy="1409065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+mj-lt"/>
              <a:cs typeface="+mj-lt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605790" y="5364480"/>
            <a:ext cx="7873365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defRPr sz="1600" b="0">
                <a:solidFill>
                  <a:srgbClr val="FFFFFF"/>
                </a:solidFill>
                <a:latin typeface="Avenir Next" panose="020B0803020202020204"/>
              </a:defRPr>
            </a:pPr>
            <a:r>
              <a:rPr sz="1800">
                <a:latin typeface="+mj-lt"/>
                <a:cs typeface="+mj-lt"/>
                <a:sym typeface="+mn-ea"/>
              </a:rPr>
              <a:t>Large disjoint holdouts (n=235,060 and n=1,161,668) make the observed ranking differences operationally meaningful. Formal significance testing is a natural next step.</a:t>
            </a:r>
            <a:endParaRPr lang="en-US" sz="1800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04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Model Explainability &amp; Practical Insight</a:t>
            </a:r>
            <a:endParaRPr lang="en-US" altLang="en-US" sz="2900" b="1" dirty="0"/>
          </a:p>
        </p:txBody>
      </p:sp>
      <p:pic>
        <p:nvPicPr>
          <p:cNvPr id="33" name="Picture 32" descr="rf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" y="1224280"/>
            <a:ext cx="3977640" cy="2786380"/>
          </a:xfrm>
          <a:prstGeom prst="rect">
            <a:avLst/>
          </a:prstGeom>
        </p:spPr>
      </p:pic>
      <p:pic>
        <p:nvPicPr>
          <p:cNvPr id="34" name="Picture 33" descr="lgbm_importanc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588510" y="1221740"/>
            <a:ext cx="3977640" cy="27889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22910" y="4122420"/>
            <a:ext cx="8298180" cy="2530475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>
              <a:latin typeface="+mj-lt"/>
              <a:cs typeface="+mj-lt"/>
            </a:endParaRPr>
          </a:p>
        </p:txBody>
      </p:sp>
      <p:sp>
        <p:nvSpPr>
          <p:cNvPr id="36" name="TextBox 6"/>
          <p:cNvSpPr txBox="1"/>
          <p:nvPr/>
        </p:nvSpPr>
        <p:spPr>
          <a:xfrm>
            <a:off x="582932" y="4245229"/>
            <a:ext cx="24257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3D7C"/>
                </a:solidFill>
                <a:latin typeface="Avenir Next" panose="020B0803020202020204"/>
              </a:defRPr>
            </a:pPr>
            <a:r>
              <a:rPr sz="1600">
                <a:latin typeface="+mj-lt"/>
                <a:cs typeface="+mj-lt"/>
              </a:rPr>
              <a:t>Consistent </a:t>
            </a:r>
            <a:r>
              <a:rPr lang="en-US" sz="1600">
                <a:latin typeface="+mj-lt"/>
                <a:cs typeface="+mj-lt"/>
              </a:rPr>
              <a:t>T</a:t>
            </a:r>
            <a:r>
              <a:rPr sz="1600">
                <a:latin typeface="+mj-lt"/>
                <a:cs typeface="+mj-lt"/>
              </a:rPr>
              <a:t>op </a:t>
            </a:r>
            <a:r>
              <a:rPr lang="en-US" sz="1600">
                <a:latin typeface="+mj-lt"/>
                <a:cs typeface="+mj-lt"/>
              </a:rPr>
              <a:t>S</a:t>
            </a:r>
            <a:r>
              <a:rPr sz="1600">
                <a:latin typeface="+mj-lt"/>
                <a:cs typeface="+mj-lt"/>
              </a:rPr>
              <a:t>ignals</a:t>
            </a:r>
            <a:endParaRPr sz="1600">
              <a:latin typeface="+mj-lt"/>
              <a:cs typeface="+mj-lt"/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582934" y="5441569"/>
            <a:ext cx="24466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F7C00"/>
                </a:solidFill>
                <a:latin typeface="Avenir Next" panose="020B0803020202020204"/>
              </a:defRPr>
            </a:pPr>
            <a:r>
              <a:rPr sz="1600">
                <a:latin typeface="+mj-lt"/>
                <a:cs typeface="+mj-lt"/>
              </a:rPr>
              <a:t>Business </a:t>
            </a:r>
            <a:r>
              <a:rPr lang="en-US" sz="1600">
                <a:latin typeface="+mj-lt"/>
                <a:cs typeface="+mj-lt"/>
              </a:rPr>
              <a:t>I</a:t>
            </a:r>
            <a:r>
              <a:rPr sz="1600">
                <a:latin typeface="+mj-lt"/>
                <a:cs typeface="+mj-lt"/>
              </a:rPr>
              <a:t>nterpretation</a:t>
            </a:r>
            <a:endParaRPr sz="1600">
              <a:latin typeface="+mj-lt"/>
              <a:cs typeface="+mj-lt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4575175"/>
            <a:ext cx="779208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7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lang="en-US"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C</a:t>
            </a:r>
            <a:r>
              <a:rPr sz="1600">
                <a:solidFill>
                  <a:schemeClr val="tx1"/>
                </a:solidFill>
                <a:latin typeface="+mj-lt"/>
                <a:cs typeface="+mj-lt"/>
                <a:sym typeface="+mn-ea"/>
              </a:rPr>
              <a:t>rime-against category, drug/narcotic offenses, department or discount-store locations, residence/home context, and cyclical time features appear repeatedly across models.</a:t>
            </a:r>
            <a:endParaRPr lang="en-US" sz="1600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685800" y="5778500"/>
            <a:ext cx="76923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>
                <a:solidFill>
                  <a:schemeClr val="tx1"/>
                </a:solidFill>
                <a:latin typeface="+mj-lt"/>
                <a:cs typeface="+mj-lt"/>
                <a:sym typeface="+mn-ea"/>
              </a:rPr>
              <a:t>Arrest probability is </a:t>
            </a:r>
            <a:r>
              <a:rPr b="1">
                <a:solidFill>
                  <a:schemeClr val="tx1"/>
                </a:solidFill>
                <a:latin typeface="+mj-lt"/>
                <a:cs typeface="+mj-lt"/>
                <a:sym typeface="+mn-ea"/>
              </a:rPr>
              <a:t>not driven by one factor</a:t>
            </a:r>
            <a:r>
              <a:rPr>
                <a:solidFill>
                  <a:schemeClr val="tx1"/>
                </a:solidFill>
                <a:latin typeface="+mj-lt"/>
                <a:cs typeface="+mj-lt"/>
                <a:sym typeface="+mn-ea"/>
              </a:rPr>
              <a:t>. It emerges from the joint context of offense type, place and time, which supports the choice of </a:t>
            </a:r>
            <a:r>
              <a:rPr b="1">
                <a:solidFill>
                  <a:schemeClr val="tx1"/>
                </a:solidFill>
                <a:latin typeface="+mj-lt"/>
                <a:cs typeface="+mj-lt"/>
                <a:sym typeface="+mn-ea"/>
              </a:rPr>
              <a:t>nonlinear models</a:t>
            </a:r>
            <a:r>
              <a:rPr>
                <a:solidFill>
                  <a:schemeClr val="tx1"/>
                </a:solidFill>
                <a:latin typeface="+mj-lt"/>
                <a:cs typeface="+mj-lt"/>
                <a:sym typeface="+mn-ea"/>
              </a:rPr>
              <a:t> for deployment.</a:t>
            </a:r>
            <a:endParaRPr lang="en-US">
              <a:solidFill>
                <a:schemeClr val="tx1"/>
              </a:solidFill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04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Live Demo: Deployed Model Walkthrough</a:t>
            </a:r>
            <a:endParaRPr lang="en-US" altLang="en-US" sz="29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209550" y="2263775"/>
            <a:ext cx="5929630" cy="3600450"/>
            <a:chOff x="761" y="1886"/>
            <a:chExt cx="12226" cy="830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1" y="1886"/>
              <a:ext cx="12227" cy="1219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" y="3105"/>
              <a:ext cx="12227" cy="7083"/>
            </a:xfrm>
            <a:prstGeom prst="rect">
              <a:avLst/>
            </a:prstGeom>
          </p:spPr>
        </p:pic>
      </p:grpSp>
      <p:sp>
        <p:nvSpPr>
          <p:cNvPr id="7" name="Text Box 6"/>
          <p:cNvSpPr txBox="1"/>
          <p:nvPr/>
        </p:nvSpPr>
        <p:spPr>
          <a:xfrm>
            <a:off x="209550" y="6106160"/>
            <a:ext cx="7560945" cy="564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0000"/>
              </a:lnSpc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lang="en-US" altLang="en-US" sz="1400" b="1">
                <a:latin typeface="+mj-lt"/>
                <a:cs typeface="+mj-lt"/>
                <a:sym typeface="+mn-ea"/>
              </a:rPr>
              <a:t>Step 1: </a:t>
            </a:r>
            <a:r>
              <a:rPr lang="en-US" altLang="en-US" sz="1400">
                <a:latin typeface="+mj-lt"/>
                <a:cs typeface="+mj-lt"/>
                <a:sym typeface="+mn-ea"/>
              </a:rPr>
              <a:t>Activate the backend API by visiting </a:t>
            </a:r>
            <a:r>
              <a:rPr lang="en-US" altLang="en-US" sz="14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https://prediction-api-vlwb.onrender.com</a:t>
            </a:r>
            <a:endParaRPr lang="en-US" altLang="en-US" sz="1400">
              <a:latin typeface="+mj-lt"/>
              <a:cs typeface="+mj-lt"/>
              <a:sym typeface="+mn-ea"/>
            </a:endParaRPr>
          </a:p>
          <a:p>
            <a:pPr algn="l">
              <a:lnSpc>
                <a:spcPct val="110000"/>
              </a:lnSpc>
              <a:defRPr sz="1600" b="0">
                <a:solidFill>
                  <a:srgbClr val="242F3A"/>
                </a:solidFill>
                <a:latin typeface="Avenir Next" panose="020B0803020202020204"/>
              </a:defRPr>
            </a:pPr>
            <a:r>
              <a:rPr lang="en-US" altLang="en-US" sz="1400" b="1">
                <a:latin typeface="+mj-lt"/>
                <a:cs typeface="+mj-lt"/>
                <a:sym typeface="+mn-ea"/>
              </a:rPr>
              <a:t>Step 2: </a:t>
            </a:r>
            <a:r>
              <a:rPr lang="en-US" altLang="en-US" sz="1400">
                <a:latin typeface="+mj-lt"/>
                <a:cs typeface="+mj-lt"/>
                <a:sym typeface="+mn-ea"/>
              </a:rPr>
              <a:t>Visit </a:t>
            </a:r>
            <a:r>
              <a:rPr lang="en-US" altLang="en-US" sz="14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https://prediction-dashboard-5y9c.onrender.com/ </a:t>
            </a:r>
            <a:endParaRPr lang="en-US" altLang="en-US" sz="1400">
              <a:solidFill>
                <a:schemeClr val="accent6">
                  <a:lumMod val="75000"/>
                </a:schemeClr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485005" y="3515995"/>
            <a:ext cx="4431665" cy="1440180"/>
          </a:xfrm>
          <a:prstGeom prst="roundRect">
            <a:avLst>
              <a:gd name="adj" fmla="val 4629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Input Settings:</a:t>
            </a:r>
            <a:endParaRPr lang="en-US" altLang="en-US" sz="1200" b="1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2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Time: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10:00 PM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2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Location: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Highway/Road/Alley/Street/Sidewalk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2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Crime Against: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Society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2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Offense Category: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 Drug/Narcotic Offenses or Weapon Law Violations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08915" y="1261745"/>
            <a:ext cx="8616315" cy="685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10000"/>
              </a:lnSpc>
            </a:pPr>
            <a:r>
              <a:rPr lang="en-US" altLang="en-US" sz="1600" b="1">
                <a:latin typeface="+mj-lt"/>
                <a:cs typeface="+mj-lt"/>
                <a:sym typeface="+mn-ea"/>
              </a:rPr>
              <a:t>Case 1: A Model with a High Arrest Rate —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 “The Sure Catch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rPr>
              <a:t>”</a:t>
            </a:r>
            <a:endParaRPr lang="en-US" altLang="en-US" sz="1600" b="1">
              <a:solidFill>
                <a:schemeClr val="accent6">
                  <a:lumMod val="75000"/>
                </a:schemeClr>
              </a:solidFill>
              <a:latin typeface="+mj-lt"/>
              <a:cs typeface="+mj-lt"/>
            </a:endParaRPr>
          </a:p>
          <a:p>
            <a:pPr algn="l">
              <a:lnSpc>
                <a:spcPct val="110000"/>
              </a:lnSpc>
            </a:pPr>
            <a:r>
              <a:rPr lang="en-US" altLang="en-US" sz="1600">
                <a:latin typeface="+mj-lt"/>
                <a:cs typeface="+mj-lt"/>
                <a:sym typeface="+mn-ea"/>
              </a:rPr>
              <a:t>The model can identify cases where the police are “proactively pursuing” suspects or where arrests are likely.</a:t>
            </a:r>
            <a:endParaRPr lang="en-US" altLang="en-US" sz="1600">
              <a:latin typeface="+mj-lt"/>
              <a:cs typeface="+mj-lt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80" y="4509135"/>
            <a:ext cx="2294890" cy="1129030"/>
          </a:xfrm>
          <a:prstGeom prst="rect">
            <a:avLst/>
          </a:prstGeom>
          <a:ln w="28575" cmpd="sng">
            <a:solidFill>
              <a:schemeClr val="bg1"/>
            </a:solidFill>
            <a:prstDash val="solid"/>
          </a:ln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588" y="5121593"/>
            <a:ext cx="1548765" cy="1548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2491740"/>
            <a:ext cx="7486650" cy="416941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04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Live Demo: Deployed Model Walkthrough</a:t>
            </a:r>
            <a:endParaRPr lang="en-US" altLang="en-US" sz="2900" b="1" dirty="0"/>
          </a:p>
        </p:txBody>
      </p:sp>
      <p:sp>
        <p:nvSpPr>
          <p:cNvPr id="35" name="Rounded Rectangle 34"/>
          <p:cNvSpPr/>
          <p:nvPr/>
        </p:nvSpPr>
        <p:spPr>
          <a:xfrm>
            <a:off x="4485005" y="3683000"/>
            <a:ext cx="4431665" cy="1982470"/>
          </a:xfrm>
          <a:prstGeom prst="roundRect">
            <a:avLst>
              <a:gd name="adj" fmla="val 4629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Input Settings:</a:t>
            </a:r>
            <a:endParaRPr lang="en-US" altLang="en-US" sz="1200" b="1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Time: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8:00 AM (Typically discovered when the victim wakes up in the morning to get ready for work)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Location: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Parking lot, drop-off area, garage, or residence/home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Crime Against: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Property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  <a:p>
            <a:pPr algn="l">
              <a:lnSpc>
                <a:spcPct val="130000"/>
              </a:lnSpc>
            </a:pPr>
            <a:r>
              <a:rPr lang="en-US" altLang="en-US" sz="1200" b="1">
                <a:solidFill>
                  <a:schemeClr val="tx1"/>
                </a:solidFill>
                <a:latin typeface="+mj-lt"/>
                <a:cs typeface="+mj-lt"/>
              </a:rPr>
              <a:t>Offense Category: </a:t>
            </a:r>
            <a:r>
              <a:rPr lang="en-US" altLang="en-US" sz="1200">
                <a:solidFill>
                  <a:schemeClr val="tx1"/>
                </a:solidFill>
                <a:latin typeface="+mj-lt"/>
                <a:cs typeface="+mj-lt"/>
              </a:rPr>
              <a:t>Motor Vehicle Theft or Burglary/Breaking &amp; Entering</a:t>
            </a:r>
            <a:endParaRPr lang="en-US" altLang="en-US" sz="1200">
              <a:solidFill>
                <a:schemeClr val="tx1"/>
              </a:solidFill>
              <a:latin typeface="+mj-lt"/>
              <a:cs typeface="+mj-lt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08915" y="1229360"/>
            <a:ext cx="8616315" cy="685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10000"/>
              </a:lnSpc>
            </a:pPr>
            <a:r>
              <a:rPr lang="en-US" altLang="en-US" sz="1600" b="1">
                <a:latin typeface="+mj-lt"/>
                <a:cs typeface="+mj-lt"/>
                <a:sym typeface="+mn-ea"/>
              </a:rPr>
              <a:t>Case 2: A Model with a Low Arrest Rate — “Property Losses Discovered After the Fact” </a:t>
            </a:r>
            <a:r>
              <a:rPr lang="en-US" altLang="en-US" sz="1600" b="1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  <a:sym typeface="+mn-ea"/>
              </a:rPr>
              <a:t>(The Cold Case)</a:t>
            </a:r>
            <a:endParaRPr lang="en-US" altLang="en-US" sz="1600" b="1">
              <a:latin typeface="+mj-lt"/>
              <a:cs typeface="+mj-lt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en-US" sz="1600">
                <a:latin typeface="+mj-lt"/>
                <a:cs typeface="+mj-lt"/>
                <a:sym typeface="+mn-ea"/>
              </a:rPr>
              <a:t>The model has not overfitted and addresses the real-world challenge of extremely low clearance rates for property crimes.</a:t>
            </a:r>
            <a:endParaRPr lang="en-US" altLang="en-US" sz="1600">
              <a:latin typeface="+mj-lt"/>
              <a:cs typeface="+mj-lt"/>
              <a:sym typeface="+mn-ea"/>
            </a:endParaRPr>
          </a:p>
          <a:p>
            <a:pPr algn="l">
              <a:lnSpc>
                <a:spcPct val="110000"/>
              </a:lnSpc>
            </a:pPr>
            <a:endParaRPr lang="en-US" altLang="en-US" sz="1600">
              <a:latin typeface="+mj-lt"/>
              <a:cs typeface="+mj-lt"/>
              <a:sym typeface="+mn-e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005" y="5071110"/>
            <a:ext cx="2279650" cy="1163955"/>
          </a:xfrm>
          <a:prstGeom prst="rect">
            <a:avLst/>
          </a:prstGeom>
          <a:ln w="28575" cmpd="sng">
            <a:solidFill>
              <a:schemeClr val="bg1"/>
            </a:solidFill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 userDrawn="1"/>
        </p:nvSpPr>
        <p:spPr>
          <a:xfrm>
            <a:off x="0" y="410552"/>
            <a:ext cx="685800" cy="68580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2800" b="1">
                <a:latin typeface="+mj-lt"/>
                <a:cs typeface="+mj-lt"/>
              </a:rPr>
              <a:t>05</a:t>
            </a:r>
            <a:endParaRPr lang="en-US" altLang="en-GB" sz="2800" b="1">
              <a:latin typeface="+mj-lt"/>
              <a:cs typeface="+mj-lt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789305" y="410845"/>
            <a:ext cx="7886700" cy="81089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4282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2900" b="1" dirty="0"/>
              <a:t>Business Recommendations &amp; Expected Impact</a:t>
            </a:r>
            <a:endParaRPr lang="en-US" altLang="en-US" sz="2900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387985" y="1594485"/>
            <a:ext cx="2537460" cy="4797425"/>
            <a:chOff x="354" y="2648"/>
            <a:chExt cx="3996" cy="7555"/>
          </a:xfrm>
        </p:grpSpPr>
        <p:sp>
          <p:nvSpPr>
            <p:cNvPr id="4" name="Rounded Rectangle 3"/>
            <p:cNvSpPr/>
            <p:nvPr/>
          </p:nvSpPr>
          <p:spPr>
            <a:xfrm>
              <a:off x="354" y="2648"/>
              <a:ext cx="3996" cy="7555"/>
            </a:xfrm>
            <a:prstGeom prst="roundRect">
              <a:avLst>
                <a:gd name="adj" fmla="val 9602"/>
              </a:avLst>
            </a:prstGeom>
            <a:solidFill>
              <a:srgbClr val="003D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>
                <a:latin typeface="+mj-lt"/>
                <a:cs typeface="+mj-lt"/>
              </a:endParaRPr>
            </a:p>
          </p:txBody>
        </p:sp>
        <p:sp>
          <p:nvSpPr>
            <p:cNvPr id="3" name="TextBox 4"/>
            <p:cNvSpPr txBox="1"/>
            <p:nvPr/>
          </p:nvSpPr>
          <p:spPr>
            <a:xfrm>
              <a:off x="465" y="2958"/>
              <a:ext cx="3749" cy="69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</a:rPr>
                <a:t>Recommendation 1</a:t>
              </a:r>
              <a:endParaRPr sz="16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latin typeface="+mj-lt"/>
                  <a:cs typeface="+mj-lt"/>
                </a:rPr>
                <a:t>Deploy first as an analyst-facing triage tool</a:t>
              </a:r>
              <a:endParaRPr sz="1600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endParaRPr sz="1600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</a:rPr>
                <a:t>Recommendation 2</a:t>
              </a:r>
              <a:endParaRPr sz="16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latin typeface="+mj-lt"/>
                  <a:cs typeface="+mj-lt"/>
                </a:rPr>
                <a:t>Monitor drift separately for Chicago and non-Chicago data</a:t>
              </a:r>
              <a:endParaRPr sz="1600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endParaRPr sz="1600"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accent6">
                      <a:lumMod val="75000"/>
                    </a:schemeClr>
                  </a:solidFill>
                  <a:latin typeface="+mj-lt"/>
                  <a:cs typeface="+mj-lt"/>
                </a:rPr>
                <a:t>Recommendation 3</a:t>
              </a:r>
              <a:endParaRPr sz="1600">
                <a:solidFill>
                  <a:schemeClr val="accent6">
                    <a:lumMod val="75000"/>
                  </a:schemeClr>
                </a:solidFill>
                <a:latin typeface="+mj-lt"/>
                <a:cs typeface="+mj-lt"/>
              </a:endParaRPr>
            </a:p>
            <a:p>
              <a:pPr algn="l">
                <a:lnSpc>
                  <a:spcPct val="110000"/>
                </a:lnSpc>
                <a:defRPr sz="1900" b="1">
                  <a:solidFill>
                    <a:srgbClr val="FFFFFF"/>
                  </a:solidFill>
                  <a:latin typeface="Avenir Next" panose="020B0803020202020204"/>
                </a:defRPr>
              </a:pPr>
              <a:r>
                <a:rPr sz="1600">
                  <a:latin typeface="+mj-lt"/>
                  <a:cs typeface="+mj-lt"/>
                </a:rPr>
                <a:t>Add fairness checks and threshold calibration before wider operational use</a:t>
              </a:r>
              <a:endParaRPr sz="1600">
                <a:latin typeface="+mj-lt"/>
                <a:cs typeface="+mj-lt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93440" y="1173480"/>
            <a:ext cx="5280660" cy="5380990"/>
            <a:chOff x="5124" y="1848"/>
            <a:chExt cx="8316" cy="8474"/>
          </a:xfrm>
        </p:grpSpPr>
        <p:sp>
          <p:nvSpPr>
            <p:cNvPr id="6" name="Rounded Rectangle 5"/>
            <p:cNvSpPr/>
            <p:nvPr/>
          </p:nvSpPr>
          <p:spPr>
            <a:xfrm>
              <a:off x="5124" y="1848"/>
              <a:ext cx="8316" cy="8475"/>
            </a:xfrm>
            <a:prstGeom prst="roundRect">
              <a:avLst>
                <a:gd name="adj" fmla="val 9463"/>
              </a:avLst>
            </a:prstGeom>
            <a:solidFill>
              <a:srgbClr val="F2F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>
                <a:latin typeface="+mj-lt"/>
                <a:cs typeface="+mj-l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344" y="2261"/>
              <a:ext cx="3517" cy="6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800" b="1">
                  <a:solidFill>
                    <a:srgbClr val="003D7C"/>
                  </a:solidFill>
                  <a:latin typeface="Avenir Next" panose="020B0803020202020204"/>
                </a:defRPr>
              </a:pPr>
              <a:r>
                <a:rPr sz="2000">
                  <a:latin typeface="+mj-lt"/>
                  <a:cs typeface="+mj-lt"/>
                </a:rPr>
                <a:t>Expected </a:t>
              </a:r>
              <a:r>
                <a:rPr lang="en-US" sz="2000">
                  <a:latin typeface="+mj-lt"/>
                  <a:cs typeface="+mj-lt"/>
                </a:rPr>
                <a:t>I</a:t>
              </a:r>
              <a:r>
                <a:rPr sz="2000">
                  <a:latin typeface="+mj-lt"/>
                  <a:cs typeface="+mj-lt"/>
                </a:rPr>
                <a:t>mpact</a:t>
              </a:r>
              <a:endParaRPr sz="2000">
                <a:latin typeface="+mj-lt"/>
                <a:cs typeface="+mj-lt"/>
              </a:endParaRPr>
            </a:p>
          </p:txBody>
        </p:sp>
        <p:sp>
          <p:nvSpPr>
            <p:cNvPr id="11" name="TextBox 8"/>
            <p:cNvSpPr txBox="1"/>
            <p:nvPr/>
          </p:nvSpPr>
          <p:spPr>
            <a:xfrm>
              <a:off x="5344" y="7952"/>
              <a:ext cx="3568" cy="6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1800" b="1">
                  <a:solidFill>
                    <a:srgbClr val="EF7C00"/>
                  </a:solidFill>
                  <a:latin typeface="Avenir Next" panose="020B0803020202020204"/>
                </a:defRPr>
              </a:pPr>
              <a:r>
                <a:rPr sz="2000">
                  <a:latin typeface="+mj-lt"/>
                  <a:cs typeface="+mj-lt"/>
                </a:rPr>
                <a:t>Closing </a:t>
              </a:r>
              <a:r>
                <a:rPr lang="en-US" sz="2000">
                  <a:latin typeface="+mj-lt"/>
                  <a:cs typeface="+mj-lt"/>
                </a:rPr>
                <a:t>M</a:t>
              </a:r>
              <a:r>
                <a:rPr sz="2000">
                  <a:latin typeface="+mj-lt"/>
                  <a:cs typeface="+mj-lt"/>
                </a:rPr>
                <a:t>essage</a:t>
              </a:r>
              <a:endParaRPr sz="2000">
                <a:latin typeface="+mj-lt"/>
                <a:cs typeface="+mj-lt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5344" y="2936"/>
              <a:ext cx="8002" cy="400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Short </a:t>
              </a:r>
              <a:r>
                <a:rPr lang="en-US"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T</a:t>
              </a:r>
              <a:r>
                <a:rPr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erm</a:t>
              </a:r>
              <a:endParaRPr sz="1600" b="1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• Faster case triage</a:t>
              </a: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• Better visibility into arrest-likely patterns</a:t>
              </a: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Medium </a:t>
              </a:r>
              <a:r>
                <a:rPr lang="en-US"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T</a:t>
              </a:r>
              <a:r>
                <a:rPr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erm</a:t>
              </a:r>
              <a:endParaRPr sz="1600" b="1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• Reusable feature pipeline for public-safety analytics</a:t>
              </a: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• Shared benchmark for cross-jurisdiction comparison</a:t>
              </a: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endParaRPr sz="1600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 b="1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Limitation</a:t>
              </a:r>
              <a:endParaRPr sz="1600" b="1">
                <a:solidFill>
                  <a:schemeClr val="tx1"/>
                </a:solidFill>
                <a:latin typeface="+mj-lt"/>
                <a:cs typeface="+mj-lt"/>
              </a:endParaRPr>
            </a:p>
            <a:p>
              <a:pPr algn="l">
                <a:defRPr sz="17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 sz="1600"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• Model uses incident attributes only; it does not observe patrol decisions or resource availability</a:t>
              </a:r>
              <a:endParaRPr lang="en-US" sz="1600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5344" y="8580"/>
              <a:ext cx="7946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>
                <a:defRPr sz="1600" b="0">
                  <a:solidFill>
                    <a:srgbClr val="242F3A"/>
                  </a:solidFill>
                  <a:latin typeface="Avenir Next" panose="020B0803020202020204"/>
                </a:defRPr>
              </a:pPr>
              <a:r>
                <a:rPr>
                  <a:solidFill>
                    <a:schemeClr val="tx1"/>
                  </a:solidFill>
                  <a:latin typeface="+mj-lt"/>
                  <a:cs typeface="+mj-lt"/>
                  <a:sym typeface="+mn-ea"/>
                </a:rPr>
                <a:t>The main contribution is not only higher predictive performance, but a workflow tested on both future-time and external-jurisdiction data.</a:t>
              </a:r>
              <a:endParaRPr lang="en-US">
                <a:solidFill>
                  <a:schemeClr val="tx1"/>
                </a:solidFill>
                <a:latin typeface="+mj-lt"/>
                <a:cs typeface="+mj-lt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18*126"/>
  <p:tag name="TABLE_ENDDRAG_RECT" val="29*237*318*126"/>
</p:tagLst>
</file>

<file path=ppt/tags/tag2.xml><?xml version="1.0" encoding="utf-8"?>
<p:tagLst xmlns:p="http://schemas.openxmlformats.org/presentationml/2006/main">
  <p:tag name="TABLE_ENDDRAG_ORIGIN_RECT" val="317*126"/>
  <p:tag name="TABLE_ENDDRAG_RECT" val="367*237*317*1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5913</Words>
  <Application>WPS Writer</Application>
  <PresentationFormat>Widescreen</PresentationFormat>
  <Paragraphs>333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Arial</vt:lpstr>
      <vt:lpstr>Avenir Next</vt:lpstr>
      <vt:lpstr>Arial Bold</vt:lpstr>
      <vt:lpstr>汉仪书宋二KW</vt:lpstr>
      <vt:lpstr>Calibri</vt:lpstr>
      <vt:lpstr>Helvetica Neue</vt:lpstr>
      <vt:lpstr>Microsoft YaHei</vt:lpstr>
      <vt:lpstr>汉仪旗黑</vt:lpstr>
      <vt:lpstr>Arial Unicode MS</vt:lpstr>
      <vt:lpstr>Aptos</vt:lpstr>
      <vt:lpstr>等线</vt:lpstr>
      <vt:lpstr>汉仪中等线KW</vt:lpstr>
      <vt:lpstr>SimSun</vt:lpstr>
      <vt:lpstr>Calibri</vt:lpstr>
      <vt:lpstr>Office Theme</vt:lpstr>
      <vt:lpstr>Team7 - Predicting Arrest Outcomes for Urban Crime Events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朱育含</cp:lastModifiedBy>
  <cp:revision>169</cp:revision>
  <dcterms:created xsi:type="dcterms:W3CDTF">2026-04-09T02:52:04Z</dcterms:created>
  <dcterms:modified xsi:type="dcterms:W3CDTF">2026-04-09T02:52:04Z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A335BBEC356662A78EF5D469C53EDD04_42</vt:lpwstr>
  </property>
</Properties>
</file>